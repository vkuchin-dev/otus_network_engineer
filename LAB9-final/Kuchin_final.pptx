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79" r:id="rId8"/>
    <p:sldId id="267" r:id="rId9"/>
    <p:sldId id="260" r:id="rId10"/>
    <p:sldId id="261" r:id="rId11"/>
    <p:sldId id="262" r:id="rId12"/>
    <p:sldId id="269" r:id="rId13"/>
    <p:sldId id="268" r:id="rId14"/>
    <p:sldId id="280" r:id="rId15"/>
    <p:sldId id="263" r:id="rId16"/>
    <p:sldId id="264" r:id="rId17"/>
    <p:sldId id="265" r:id="rId18"/>
    <p:sldId id="266" r:id="rId19"/>
  </p:sldIdLst>
  <p:sldSz cx="9144000" cy="5143500" type="screen16x9"/>
  <p:notesSz cx="6858000" cy="9144000"/>
  <p:embeddedFontLst>
    <p:embeddedFont>
      <p:font typeface="Roboto Medium" panose="020B0604020202020204" charset="0"/>
      <p:regular r:id="rId21"/>
      <p:bold r:id="rId22"/>
      <p:italic r:id="rId23"/>
      <p:boldItalic r:id="rId24"/>
    </p:embeddedFont>
    <p:embeddedFont>
      <p:font typeface="Roboto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C0DE42D-3966-4A70-8926-DAFDE37ACCBA}">
  <a:tblStyle styleId="{FC0DE42D-3966-4A70-8926-DAFDE37ACC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74" y="91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3ce85d903d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3ce85d903d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f7d84ce1d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f7d84ce1d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f7d84ce1d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0f7d84ce1d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3ce85d903d_0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3ce85d903d_0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{FC0DE42D-3966-4A70-8926-DAFDE37ACCBA}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{FC0DE42D-3966-4A70-8926-DAFDE37ACCBA}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6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Multi - POD</a:t>
            </a:r>
            <a:endParaRPr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dirty="0" smtClean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Дизайн сетей ЦОД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Тема: </a:t>
            </a:r>
            <a:r>
              <a:rPr lang="en-US" sz="3000" dirty="0" smtClean="0"/>
              <a:t>“Multi pod”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 t="30931" b="13765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В</a:t>
            </a:r>
            <a:r>
              <a:rPr lang="ru-RU" sz="23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ладимир</a:t>
            </a:r>
            <a:r>
              <a:rPr lang="ru" sz="23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 Кучин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4" y="2893375"/>
            <a:ext cx="3526561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 smtClean="0">
                <a:latin typeface="Roboto Medium"/>
                <a:ea typeface="Roboto Medium"/>
                <a:cs typeface="Roboto Medium"/>
                <a:sym typeface="Roboto Medium"/>
              </a:rPr>
              <a:t>Эксперт по сетевым технологиям</a:t>
            </a:r>
            <a:r>
              <a:rPr lang="en-US" sz="1300" dirty="0" smtClean="0">
                <a:latin typeface="Roboto Medium"/>
                <a:ea typeface="Roboto Medium"/>
                <a:cs typeface="Roboto Medium"/>
                <a:sym typeface="Roboto Medium"/>
              </a:rPr>
              <a:t>/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 smtClean="0">
                <a:latin typeface="Roboto Medium"/>
                <a:ea typeface="Roboto Medium"/>
                <a:cs typeface="Roboto Medium"/>
                <a:sym typeface="Roboto Medium"/>
              </a:rPr>
              <a:t> группа компаний ВТБ.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4" y="1323110"/>
            <a:ext cx="5913839" cy="544394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Введение: </a:t>
            </a:r>
            <a:r>
              <a:rPr lang="ru-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Подходы построения и взаимодействия сетей ЦОД.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00" y="2259356"/>
            <a:ext cx="5913838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-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Особенности дизайна </a:t>
            </a:r>
            <a:r>
              <a:rPr lang="en-US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Multi-POD.</a:t>
            </a: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Тонкости реализации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099" y="2980579"/>
            <a:ext cx="5913838" cy="475582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 сделать. Итоги.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 rot="10800000" flipV="1">
            <a:off x="1138100" y="1595306"/>
            <a:ext cx="24" cy="852149"/>
          </a:xfrm>
          <a:prstGeom prst="bentConnector3">
            <a:avLst>
              <a:gd name="adj1" fmla="val 9526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 rot="10800000" flipV="1">
            <a:off x="1138100" y="2447456"/>
            <a:ext cx="1" cy="770914"/>
          </a:xfrm>
          <a:prstGeom prst="bentConnector3">
            <a:avLst>
              <a:gd name="adj1" fmla="val 228601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</p:cNvCxnSpPr>
          <p:nvPr/>
        </p:nvCxnSpPr>
        <p:spPr>
          <a:xfrm rot="10800000">
            <a:off x="893615" y="2990494"/>
            <a:ext cx="244485" cy="227877"/>
          </a:xfrm>
          <a:prstGeom prst="bentConnector3">
            <a:avLst>
              <a:gd name="adj1" fmla="val 101002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endCxn id="180" idx="1"/>
          </p:cNvCxnSpPr>
          <p:nvPr/>
        </p:nvCxnSpPr>
        <p:spPr>
          <a:xfrm rot="16200000" flipH="1">
            <a:off x="593223" y="3518738"/>
            <a:ext cx="789836" cy="189100"/>
          </a:xfrm>
          <a:prstGeom prst="bentConnector2">
            <a:avLst/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082691" y="3820106"/>
            <a:ext cx="5969246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-RU" b="1" dirty="0"/>
              <a:t>Вопросы и рекомендации</a:t>
            </a:r>
            <a:endParaRPr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8"/>
          <p:cNvSpPr txBox="1"/>
          <p:nvPr/>
        </p:nvSpPr>
        <p:spPr>
          <a:xfrm>
            <a:off x="800575" y="1349525"/>
            <a:ext cx="7224600" cy="329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smtClean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Multi Fabric, Multi POD, Multi Site</a:t>
            </a:r>
            <a:endParaRPr sz="15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 smtClean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>
              <a:lnSpc>
                <a:spcPct val="115000"/>
              </a:lnSpc>
              <a:spcBef>
                <a:spcPts val="1000"/>
              </a:spcBef>
            </a:pPr>
            <a:r>
              <a:rPr lang="ru-RU" sz="1500" dirty="0" smtClean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Особенности: </a:t>
            </a:r>
            <a:r>
              <a:rPr lang="en-US" sz="1500" dirty="0" smtClean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Multi POD:</a:t>
            </a:r>
            <a:endParaRPr lang="ru-RU" sz="1500" dirty="0" smtClean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>
              <a:lnSpc>
                <a:spcPct val="115000"/>
              </a:lnSpc>
              <a:spcBef>
                <a:spcPts val="1000"/>
              </a:spcBef>
            </a:pPr>
            <a:r>
              <a:rPr lang="ru-RU" dirty="0" err="1" smtClean="0"/>
              <a:t>Overlay</a:t>
            </a:r>
            <a:r>
              <a:rPr lang="ru-RU" dirty="0" smtClean="0"/>
              <a:t> сеть -единая</a:t>
            </a:r>
            <a:r>
              <a:rPr lang="ru-RU" dirty="0"/>
              <a:t>, </a:t>
            </a:r>
            <a:r>
              <a:rPr lang="ru-RU" dirty="0" smtClean="0"/>
              <a:t>каждый </a:t>
            </a:r>
            <a:r>
              <a:rPr lang="ru-RU" dirty="0"/>
              <a:t>VTEP знает о всех других </a:t>
            </a:r>
            <a:r>
              <a:rPr lang="ru-RU" dirty="0" smtClean="0"/>
              <a:t>VTEP-ах, каждый </a:t>
            </a:r>
            <a:r>
              <a:rPr lang="en-US" dirty="0" smtClean="0"/>
              <a:t>VTEP</a:t>
            </a:r>
            <a:r>
              <a:rPr lang="ru-RU" dirty="0" smtClean="0"/>
              <a:t> </a:t>
            </a:r>
            <a:r>
              <a:rPr lang="ru-RU" dirty="0"/>
              <a:t>имеет полную таблицу </a:t>
            </a:r>
            <a:r>
              <a:rPr lang="ru-RU" dirty="0" smtClean="0"/>
              <a:t>маршрутов </a:t>
            </a:r>
            <a:r>
              <a:rPr lang="ru-RU" dirty="0"/>
              <a:t>BGP EVPN.</a:t>
            </a:r>
            <a:endParaRPr sz="15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500" dirty="0" smtClean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>
              <a:lnSpc>
                <a:spcPct val="115000"/>
              </a:lnSpc>
            </a:pPr>
            <a:r>
              <a:rPr lang="ru-RU" sz="1500" dirty="0" smtClean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Кроме того, каждый </a:t>
            </a:r>
            <a:r>
              <a:rPr lang="en-US" sz="1500" dirty="0" smtClean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LEAF </a:t>
            </a:r>
            <a:r>
              <a:rPr lang="ru-RU" sz="1500" dirty="0" smtClean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должен знать как добраться до </a:t>
            </a:r>
            <a:r>
              <a:rPr lang="en-US" sz="1500" dirty="0" err="1" smtClean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NextHop</a:t>
            </a:r>
            <a:r>
              <a:rPr lang="en-US" sz="1500" dirty="0" smtClean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ru-RU" sz="1500" dirty="0" smtClean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а. </a:t>
            </a:r>
            <a:r>
              <a:rPr lang="en-US" dirty="0"/>
              <a:t>Next-Hop EVPN </a:t>
            </a:r>
            <a:r>
              <a:rPr lang="ru-RU" dirty="0"/>
              <a:t>маршрутов </a:t>
            </a:r>
            <a:r>
              <a:rPr lang="ru-RU" b="1" u="sng" dirty="0" smtClean="0"/>
              <a:t>не меняется</a:t>
            </a:r>
            <a:r>
              <a:rPr lang="ru-RU" dirty="0" smtClean="0"/>
              <a:t> при прохождении</a:t>
            </a:r>
            <a:r>
              <a:rPr lang="en-US" dirty="0" smtClean="0"/>
              <a:t> </a:t>
            </a:r>
            <a:r>
              <a:rPr lang="ru-RU" dirty="0" smtClean="0"/>
              <a:t>трафика через </a:t>
            </a:r>
            <a:r>
              <a:rPr lang="en-US" dirty="0" smtClean="0"/>
              <a:t>SPINE.</a:t>
            </a:r>
            <a:endParaRPr lang="ru-RU" sz="1500" dirty="0" smtClean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500" dirty="0" smtClean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 smtClean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Преимущество и недостатки дизайна </a:t>
            </a:r>
            <a:r>
              <a:rPr lang="en-US" sz="1500" dirty="0" smtClean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Multi POD.</a:t>
            </a:r>
            <a:endParaRPr sz="15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58"/>
          <p:cNvSpPr txBox="1">
            <a:spLocks noGrp="1"/>
          </p:cNvSpPr>
          <p:nvPr>
            <p:ph type="title"/>
          </p:nvPr>
        </p:nvSpPr>
        <p:spPr>
          <a:xfrm>
            <a:off x="611950" y="350875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smtClean="0"/>
              <a:t>Multi POD</a:t>
            </a:r>
            <a:endParaRPr dirty="0"/>
          </a:p>
        </p:txBody>
      </p:sp>
      <p:pic>
        <p:nvPicPr>
          <p:cNvPr id="403" name="Google Shape;40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146812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199" y="2060467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573" y="4205674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0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7326" y="2357149"/>
            <a:ext cx="456645" cy="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0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736" y="3172733"/>
            <a:ext cx="456645" cy="456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5407" y="145716"/>
            <a:ext cx="7825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Roboto" panose="020B0604020202020204" charset="0"/>
              </a:rPr>
              <a:t>Схема: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269" y="145716"/>
            <a:ext cx="6915185" cy="49346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1070270479"/>
              </p:ext>
            </p:extLst>
          </p:nvPr>
        </p:nvGraphicFramePr>
        <p:xfrm>
          <a:off x="952500" y="1641765"/>
          <a:ext cx="7239000" cy="3949775"/>
        </p:xfrm>
        <a:graphic>
          <a:graphicData uri="http://schemas.openxmlformats.org/drawingml/2006/table">
            <a:tbl>
              <a:tblPr>
                <a:noFill/>
                <a:tableStyleId>{FC0DE42D-3966-4A70-8926-DAFDE37ACCBA}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4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Сегмент </a:t>
                      </a:r>
                      <a:r>
                        <a:rPr lang="en-US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-vni10010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(vlan10 /PC1-PC4) 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растянут между подами на основе технологии распределенного шлюза,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т.е. во 2-ом типе маршрутов на всех лифах обоих подов будет присутствовать информация как по </a:t>
                      </a:r>
                      <a:r>
                        <a:rPr lang="en-US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 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адресу, так и по </a:t>
                      </a:r>
                      <a:r>
                        <a:rPr lang="en-US" sz="1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ip</a:t>
                      </a:r>
                      <a:r>
                        <a:rPr lang="en-US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lang="ru-RU" sz="1400" b="0" i="0" u="none" strike="noStrike" cap="none" dirty="0" err="1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егмент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–vni10020 (</a:t>
                      </a:r>
                      <a:r>
                        <a:rPr lang="en-US" sz="1400" b="0" i="0" u="none" strike="noStrike" cap="none" dirty="0" err="1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vlan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20/PC2-PC3)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растянут между подами на 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2-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ом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уровне, 3-ий уровень присутствует только на лифах 1-ого пода в качестве </a:t>
                      </a:r>
                      <a:r>
                        <a:rPr lang="en-US" sz="1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vrrp</a:t>
                      </a:r>
                      <a:r>
                        <a:rPr lang="en-US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пары. </a:t>
                      </a:r>
                      <a:r>
                        <a:rPr lang="en-US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POD2 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видит данный сегмент как </a:t>
                      </a:r>
                      <a:r>
                        <a:rPr lang="en-US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type5 </a:t>
                      </a:r>
                      <a:r>
                        <a:rPr lang="ru-RU" sz="1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маршут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Сегмент</a:t>
                      </a:r>
                      <a:r>
                        <a:rPr lang="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–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vni10050 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400" b="0" i="0" u="none" strike="noStrike" cap="none" dirty="0" err="1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vlan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50/PC5) 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присутствует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только на лифах </a:t>
                      </a:r>
                      <a:r>
                        <a:rPr lang="en-US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POD2 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 основе </a:t>
                      </a:r>
                      <a:r>
                        <a:rPr lang="en-US" sz="1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vxlan</a:t>
                      </a:r>
                      <a:r>
                        <a:rPr lang="en-US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anycast</a:t>
                      </a:r>
                      <a:r>
                        <a:rPr lang="en-US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baseline="0" dirty="0" err="1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gw</a:t>
                      </a:r>
                      <a:r>
                        <a:rPr lang="en-US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POD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en-US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данный сегмент видит как </a:t>
                      </a:r>
                      <a:r>
                        <a:rPr lang="en-US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type5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маршрут.</a:t>
                      </a:r>
                      <a:r>
                        <a:rPr lang="en-US" sz="1400" b="0" i="0" u="none" strike="noStrike" cap="none" baseline="0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9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Технологии которые применялись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BGP </a:t>
                      </a:r>
                      <a:r>
                        <a:rPr lang="en-US" sz="1400" b="0" i="0" u="none" strike="noStrike" cap="none" dirty="0" err="1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evpn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L2vni, L3vni, </a:t>
                      </a:r>
                      <a:r>
                        <a:rPr lang="en-US" sz="1400" b="0" i="0" u="none" strike="noStrike" cap="none" dirty="0" err="1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vpc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9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685800" y="541172"/>
            <a:ext cx="7363691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" sz="1500" b="1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dirty="0"/>
              <a:t>Обеспечить </a:t>
            </a:r>
            <a:r>
              <a:rPr lang="ru-RU" dirty="0" smtClean="0"/>
              <a:t>гибкое взаимодействие </a:t>
            </a:r>
            <a:r>
              <a:rPr lang="ru-RU" dirty="0"/>
              <a:t>сегментов сети двух POD-</a:t>
            </a:r>
            <a:r>
              <a:rPr lang="ru-RU" dirty="0" err="1"/>
              <a:t>ов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460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smtClean="0"/>
              <a:t>Диагностика соседства по </a:t>
            </a:r>
            <a:r>
              <a:rPr lang="en-US" sz="1600" dirty="0" err="1" smtClean="0"/>
              <a:t>nve</a:t>
            </a:r>
            <a:r>
              <a:rPr lang="ru-RU" sz="1600" dirty="0" smtClean="0"/>
              <a:t>, а также </a:t>
            </a:r>
            <a:r>
              <a:rPr lang="en-US" sz="1600" dirty="0" err="1" smtClean="0"/>
              <a:t>vni</a:t>
            </a:r>
            <a:r>
              <a:rPr lang="en-US" sz="1600" dirty="0" smtClean="0"/>
              <a:t> </a:t>
            </a:r>
            <a:r>
              <a:rPr lang="ru-RU" sz="1600" dirty="0" smtClean="0"/>
              <a:t>которые подаются в туннель (</a:t>
            </a:r>
            <a:r>
              <a:rPr lang="en-US" sz="1600" dirty="0" smtClean="0"/>
              <a:t>POD1</a:t>
            </a:r>
            <a:r>
              <a:rPr lang="ru-RU" sz="1600" dirty="0" smtClean="0"/>
              <a:t>):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2539894066"/>
              </p:ext>
            </p:extLst>
          </p:nvPr>
        </p:nvGraphicFramePr>
        <p:xfrm>
          <a:off x="1377879" y="1097372"/>
          <a:ext cx="6369807" cy="4927704"/>
        </p:xfrm>
        <a:graphic>
          <a:graphicData uri="http://schemas.openxmlformats.org/drawingml/2006/table">
            <a:tbl>
              <a:tblPr>
                <a:noFill/>
                <a:tableStyleId>{FC0DE42D-3966-4A70-8926-DAFDE37ACCBA}</a:tableStyleId>
              </a:tblPr>
              <a:tblGrid>
                <a:gridCol w="433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6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1074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leaf1-1# </a:t>
                      </a:r>
                      <a:r>
                        <a:rPr lang="en-US" sz="11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1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nve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peer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Interface Peer-IP          State </a:t>
                      </a:r>
                      <a:r>
                        <a:rPr lang="en-US" sz="11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LearnType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Uptime   Router-Mac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--------- ---------------  ----- --------- -------- -----------------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nve1      172.17.2.2       Up    CP        03:27:59 5000.0004.0007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nve1      172.17.2.21      Up    CP        2d00h    5000.0005.0007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nve1      172.17.2.22      Up    CP        22:08:19 5000.000b.0007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leaf1-1# </a:t>
                      </a:r>
                      <a:r>
                        <a:rPr lang="en-US" sz="11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1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nve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1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vni</a:t>
                      </a:r>
                      <a:endParaRPr lang="en-US" sz="110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Interface VNI      Multicast-group   State Mode Type [BD/VRF]      Flags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--------- -------- ----------------- ----- ---- ------------------ -----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nve1     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10010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</a:t>
                      </a:r>
                      <a:r>
                        <a:rPr lang="en-US" sz="11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UnicastBGP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Up    CP   L2 [10]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nve1     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10020 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</a:t>
                      </a:r>
                      <a:r>
                        <a:rPr lang="en-US" sz="11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UnicastBGP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Up    CP   L2 [20]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nve1      </a:t>
                      </a:r>
                      <a:r>
                        <a:rPr lang="en-US" sz="11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10099</a:t>
                      </a:r>
                      <a:r>
                        <a:rPr lang="en-US" sz="1100" dirty="0" smtClean="0">
                          <a:solidFill>
                            <a:srgbClr val="00206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n/a                       Up    CP   L3 [OTUS]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60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0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60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60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460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smtClean="0"/>
              <a:t>Диагностика соседства по </a:t>
            </a:r>
            <a:r>
              <a:rPr lang="en-US" sz="1600" dirty="0" err="1" smtClean="0"/>
              <a:t>nve</a:t>
            </a:r>
            <a:r>
              <a:rPr lang="ru-RU" sz="1600" dirty="0" smtClean="0"/>
              <a:t>, а также </a:t>
            </a:r>
            <a:r>
              <a:rPr lang="en-US" sz="1600" dirty="0" err="1" smtClean="0"/>
              <a:t>vni</a:t>
            </a:r>
            <a:r>
              <a:rPr lang="en-US" sz="1600" dirty="0" smtClean="0"/>
              <a:t> </a:t>
            </a:r>
            <a:r>
              <a:rPr lang="ru-RU" sz="1600" dirty="0" smtClean="0"/>
              <a:t>которые подаются в туннель (</a:t>
            </a:r>
            <a:r>
              <a:rPr lang="en-US" sz="1600" dirty="0" smtClean="0"/>
              <a:t>POD2</a:t>
            </a:r>
            <a:r>
              <a:rPr lang="ru-RU" sz="1600" dirty="0" smtClean="0"/>
              <a:t>):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7" name="Google Shape;199;p40"/>
          <p:cNvGraphicFramePr/>
          <p:nvPr>
            <p:extLst>
              <p:ext uri="{D42A27DB-BD31-4B8C-83A1-F6EECF244321}">
                <p14:modId xmlns:p14="http://schemas.microsoft.com/office/powerpoint/2010/main" val="1368250671"/>
              </p:ext>
            </p:extLst>
          </p:nvPr>
        </p:nvGraphicFramePr>
        <p:xfrm>
          <a:off x="1328452" y="1050324"/>
          <a:ext cx="6369807" cy="5120490"/>
        </p:xfrm>
        <a:graphic>
          <a:graphicData uri="http://schemas.openxmlformats.org/drawingml/2006/table">
            <a:tbl>
              <a:tblPr>
                <a:noFill/>
                <a:tableStyleId>{FC0DE42D-3966-4A70-8926-DAFDE37ACCBA}</a:tableStyleId>
              </a:tblPr>
              <a:tblGrid>
                <a:gridCol w="433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6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4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leaf2-1# </a:t>
                      </a:r>
                      <a:r>
                        <a:rPr lang="en-US" sz="11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1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nve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peers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Interface Peer-IP          State </a:t>
                      </a:r>
                      <a:r>
                        <a:rPr lang="en-US" sz="11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LearnType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Uptime   Router-Mac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--------- ---------------  ----- --------- -------- -----------------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nve1      172.17.2.1       Up    CP        00:39:19 5000.0003.0007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nve1      172.17.2.2       Up    CP        04:24:06 5000.0004.0007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nve1      172.17.2.22     Up    CP        23:04:26 5000.000b.0007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leaf2-1# </a:t>
                      </a:r>
                      <a:r>
                        <a:rPr lang="en-US" sz="11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1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nve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1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vni</a:t>
                      </a:r>
                      <a:endParaRPr lang="en-US" sz="110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Codes: CP - Control Plane 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Interface VNI      Multicast-group   State Mode Type [BD/VRF]      Flags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--------- -------- ----------------- ----- ---- ------------------ -----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nve1     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10010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</a:t>
                      </a:r>
                      <a:r>
                        <a:rPr lang="en-US" sz="11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UnicastBGP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Up    CP   L2 [10]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nve1     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10020   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1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UnicastBGP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Up    CP   L2 [20]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nve1     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10050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</a:t>
                      </a:r>
                      <a:r>
                        <a:rPr lang="en-US" sz="11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UnicastBGP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Up    CP   L2 [50]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nve1      </a:t>
                      </a:r>
                      <a:r>
                        <a:rPr lang="en-US" sz="11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10099</a:t>
                      </a: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n/a                       Up    CP   L3 [OTUS]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095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smtClean="0"/>
              <a:t>Маршруты</a:t>
            </a:r>
            <a:r>
              <a:rPr lang="en-US" sz="1600" dirty="0" smtClean="0"/>
              <a:t> POD1: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sp>
        <p:nvSpPr>
          <p:cNvPr id="5" name="Google Shape;195;p40"/>
          <p:cNvSpPr txBox="1">
            <a:spLocks/>
          </p:cNvSpPr>
          <p:nvPr/>
        </p:nvSpPr>
        <p:spPr>
          <a:xfrm>
            <a:off x="871253" y="722870"/>
            <a:ext cx="7413952" cy="4213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Roboto"/>
              <a:buNone/>
              <a:defRPr sz="46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/>
              <a:buNone/>
              <a:defRPr sz="5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/>
              <a:buNone/>
              <a:defRPr sz="5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/>
              <a:buNone/>
              <a:defRPr sz="5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/>
              <a:buNone/>
              <a:defRPr sz="5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/>
              <a:buNone/>
              <a:defRPr sz="5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/>
              <a:buNone/>
              <a:defRPr sz="5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/>
              <a:buNone/>
              <a:defRPr sz="5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/>
              <a:buNone/>
              <a:defRPr sz="5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200" b="0" dirty="0" smtClean="0"/>
              <a:t>Leaf1-1: </a:t>
            </a:r>
            <a:r>
              <a:rPr lang="ru-RU" sz="1200" b="0" dirty="0" smtClean="0"/>
              <a:t>Маршруты </a:t>
            </a:r>
            <a:r>
              <a:rPr lang="ru-RU" sz="1200" b="0" dirty="0"/>
              <a:t>2-ого типа для </a:t>
            </a:r>
            <a:r>
              <a:rPr lang="en-US" sz="1200" b="0" dirty="0" err="1" smtClean="0">
                <a:solidFill>
                  <a:srgbClr val="FF0000"/>
                </a:solidFill>
              </a:rPr>
              <a:t>vni</a:t>
            </a:r>
            <a:r>
              <a:rPr lang="en-US" sz="1200" b="0" dirty="0" smtClean="0">
                <a:solidFill>
                  <a:srgbClr val="FF0000"/>
                </a:solidFill>
              </a:rPr>
              <a:t> </a:t>
            </a:r>
            <a:r>
              <a:rPr lang="en-US" sz="1200" b="0" dirty="0">
                <a:solidFill>
                  <a:srgbClr val="FF0000"/>
                </a:solidFill>
              </a:rPr>
              <a:t>10010</a:t>
            </a:r>
          </a:p>
          <a:p>
            <a:r>
              <a:rPr lang="en-US" sz="1200" b="0" dirty="0" smtClean="0"/>
              <a:t>  Network            </a:t>
            </a:r>
            <a:r>
              <a:rPr lang="en-US" sz="1200" b="0" dirty="0"/>
              <a:t>Next Hop            Metric     </a:t>
            </a:r>
            <a:r>
              <a:rPr lang="en-US" sz="1200" b="0" dirty="0" err="1"/>
              <a:t>LocPrf</a:t>
            </a:r>
            <a:r>
              <a:rPr lang="en-US" sz="1200" b="0" dirty="0"/>
              <a:t>     Weight Path</a:t>
            </a:r>
          </a:p>
          <a:p>
            <a:r>
              <a:rPr lang="en-US" sz="1200" b="0" dirty="0"/>
              <a:t>Route Distinguisher: 172.16.2.1:32777    (L2VNI 10010)</a:t>
            </a:r>
          </a:p>
          <a:p>
            <a:r>
              <a:rPr lang="en-US" sz="1200" b="0" dirty="0" smtClean="0"/>
              <a:t>*&gt;</a:t>
            </a:r>
            <a:r>
              <a:rPr lang="en-US" sz="1200" b="0" dirty="0"/>
              <a:t>e[2]:[0]:[0]:[48</a:t>
            </a:r>
            <a:r>
              <a:rPr lang="en-US" sz="1200" b="0" dirty="0">
                <a:solidFill>
                  <a:srgbClr val="FF0000"/>
                </a:solidFill>
              </a:rPr>
              <a:t>]:[0050.7966.6809]:[32]:[10.10.10.10]/</a:t>
            </a:r>
            <a:r>
              <a:rPr lang="en-US" sz="1200" b="0" dirty="0" smtClean="0"/>
              <a:t>272                   </a:t>
            </a:r>
            <a:r>
              <a:rPr lang="en-US" sz="1200" b="0" dirty="0"/>
              <a:t>172.17.2.21    </a:t>
            </a:r>
            <a:r>
              <a:rPr lang="en-US" sz="1200" b="0" dirty="0" smtClean="0"/>
              <a:t>       0     </a:t>
            </a:r>
            <a:r>
              <a:rPr lang="en-US" sz="1200" b="0" dirty="0">
                <a:solidFill>
                  <a:srgbClr val="FF0000"/>
                </a:solidFill>
              </a:rPr>
              <a:t>65000 65100 </a:t>
            </a:r>
            <a:r>
              <a:rPr lang="en-US" sz="1200" b="0" dirty="0" err="1"/>
              <a:t>i</a:t>
            </a:r>
            <a:endParaRPr lang="en-US" sz="1200" b="0" dirty="0"/>
          </a:p>
          <a:p>
            <a:r>
              <a:rPr lang="en-US" sz="1200" b="0" dirty="0"/>
              <a:t>*&gt;l[2]:[0]:[0]:[48</a:t>
            </a:r>
            <a:r>
              <a:rPr lang="en-US" sz="1200" b="0" dirty="0">
                <a:solidFill>
                  <a:srgbClr val="FF0000"/>
                </a:solidFill>
              </a:rPr>
              <a:t>]:[0050.7966.680a]:[32]:[10.10.10.1]/</a:t>
            </a:r>
            <a:r>
              <a:rPr lang="en-US" sz="1200" b="0" dirty="0" smtClean="0"/>
              <a:t>272                      </a:t>
            </a:r>
            <a:r>
              <a:rPr lang="en-US" sz="1200" b="0" dirty="0"/>
              <a:t>172.17.2.11        </a:t>
            </a:r>
            <a:r>
              <a:rPr lang="en-US" sz="1200" b="0" dirty="0" smtClean="0"/>
              <a:t>100      </a:t>
            </a:r>
            <a:r>
              <a:rPr lang="en-US" sz="1200" b="0" dirty="0"/>
              <a:t>32768 </a:t>
            </a:r>
            <a:r>
              <a:rPr lang="en-US" sz="1200" b="0" dirty="0" err="1"/>
              <a:t>i</a:t>
            </a:r>
            <a:endParaRPr lang="en-US" sz="1200" b="0" dirty="0"/>
          </a:p>
          <a:p>
            <a:endParaRPr lang="ru-RU" sz="1200" b="0" dirty="0" smtClean="0"/>
          </a:p>
          <a:p>
            <a:r>
              <a:rPr lang="en-US" sz="1200" b="0" dirty="0"/>
              <a:t>Leaf1-1: </a:t>
            </a:r>
            <a:r>
              <a:rPr lang="ru-RU" sz="1200" b="0" dirty="0"/>
              <a:t>Маршруты 2-ого типа для </a:t>
            </a:r>
            <a:r>
              <a:rPr lang="en-US" sz="1200" b="0" dirty="0" err="1">
                <a:solidFill>
                  <a:srgbClr val="FF0000"/>
                </a:solidFill>
              </a:rPr>
              <a:t>vni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sz="1200" b="0" dirty="0" smtClean="0">
                <a:solidFill>
                  <a:srgbClr val="FF0000"/>
                </a:solidFill>
              </a:rPr>
              <a:t>10020</a:t>
            </a:r>
            <a:endParaRPr lang="en-US" sz="1200" b="0" dirty="0" smtClean="0"/>
          </a:p>
          <a:p>
            <a:r>
              <a:rPr lang="en-US" sz="1200" b="0" dirty="0"/>
              <a:t> Network            Next Hop            Metric     </a:t>
            </a:r>
            <a:r>
              <a:rPr lang="en-US" sz="1200" b="0" dirty="0" err="1"/>
              <a:t>LocPrf</a:t>
            </a:r>
            <a:r>
              <a:rPr lang="en-US" sz="1200" b="0" dirty="0"/>
              <a:t>     Weight Path</a:t>
            </a:r>
          </a:p>
          <a:p>
            <a:r>
              <a:rPr lang="en-US" sz="1200" b="0" dirty="0"/>
              <a:t>Route Distinguisher: 172.16.2.1:32787    (L2VNI 10020)</a:t>
            </a:r>
          </a:p>
          <a:p>
            <a:r>
              <a:rPr lang="en-US" sz="1200" b="0" dirty="0"/>
              <a:t>*&gt;e[2]:[0]:[0]:[48]:[</a:t>
            </a:r>
            <a:r>
              <a:rPr lang="en-US" sz="1200" b="0" dirty="0">
                <a:solidFill>
                  <a:srgbClr val="FF0000"/>
                </a:solidFill>
              </a:rPr>
              <a:t>0050.7966.6808</a:t>
            </a:r>
            <a:r>
              <a:rPr lang="en-US" sz="1200" b="0" dirty="0"/>
              <a:t>]:[0]:[0.0.0.0]/</a:t>
            </a:r>
            <a:r>
              <a:rPr lang="en-US" sz="1200" b="0" dirty="0" smtClean="0"/>
              <a:t>216	                        172.17.2.21            0     </a:t>
            </a:r>
            <a:r>
              <a:rPr lang="en-US" sz="1200" b="0" dirty="0">
                <a:solidFill>
                  <a:srgbClr val="FF0000"/>
                </a:solidFill>
              </a:rPr>
              <a:t>65000 65100 </a:t>
            </a:r>
            <a:r>
              <a:rPr lang="en-US" sz="1200" b="0" dirty="0" err="1"/>
              <a:t>i</a:t>
            </a:r>
            <a:endParaRPr lang="en-US" sz="1200" b="0" dirty="0"/>
          </a:p>
          <a:p>
            <a:r>
              <a:rPr lang="en-US" sz="1200" b="0" dirty="0"/>
              <a:t>*&gt;l[2]:[0]:[0]:[48]:[</a:t>
            </a:r>
            <a:r>
              <a:rPr lang="en-US" sz="1200" b="0" dirty="0">
                <a:solidFill>
                  <a:srgbClr val="FF0000"/>
                </a:solidFill>
              </a:rPr>
              <a:t>0050.7966.680c</a:t>
            </a:r>
            <a:r>
              <a:rPr lang="en-US" sz="1200" b="0" dirty="0"/>
              <a:t>]:[0]:[0.0.0.0]/</a:t>
            </a:r>
            <a:r>
              <a:rPr lang="en-US" sz="1200" b="0" dirty="0" smtClean="0"/>
              <a:t>216                                172.17.2.11         100      </a:t>
            </a:r>
            <a:r>
              <a:rPr lang="en-US" sz="1200" b="0" dirty="0"/>
              <a:t>32768 </a:t>
            </a:r>
            <a:r>
              <a:rPr lang="en-US" sz="1200" b="0" dirty="0" smtClean="0"/>
              <a:t>I</a:t>
            </a:r>
          </a:p>
          <a:p>
            <a:endParaRPr lang="en-US" sz="1200" b="0" dirty="0"/>
          </a:p>
          <a:p>
            <a:r>
              <a:rPr lang="en-US" sz="1200" b="0" dirty="0"/>
              <a:t>Leaf1-1: </a:t>
            </a:r>
            <a:r>
              <a:rPr lang="ru-RU" sz="1200" b="0" dirty="0" smtClean="0"/>
              <a:t>маршруты </a:t>
            </a:r>
            <a:r>
              <a:rPr lang="ru-RU" sz="1200" b="0" dirty="0"/>
              <a:t>5-ого типа для </a:t>
            </a:r>
            <a:r>
              <a:rPr lang="ru-RU" sz="1200" b="0" dirty="0" smtClean="0"/>
              <a:t>10.10.50.0/24</a:t>
            </a:r>
            <a:r>
              <a:rPr lang="en-US" sz="1200" b="0" dirty="0" smtClean="0"/>
              <a:t>:</a:t>
            </a:r>
            <a:endParaRPr lang="ru-RU" sz="1200" b="0" dirty="0"/>
          </a:p>
          <a:p>
            <a:r>
              <a:rPr lang="ru-RU" sz="1200" b="0" dirty="0"/>
              <a:t>*|e[5]:[0]:[0]:[24]:[</a:t>
            </a:r>
            <a:r>
              <a:rPr lang="ru-RU" sz="1200" b="0" dirty="0">
                <a:solidFill>
                  <a:srgbClr val="FF0000"/>
                </a:solidFill>
              </a:rPr>
              <a:t>10.10.50.0]</a:t>
            </a:r>
            <a:r>
              <a:rPr lang="ru-RU" sz="1200" b="0" dirty="0"/>
              <a:t>:[0.0.0.0]/224</a:t>
            </a:r>
          </a:p>
          <a:p>
            <a:r>
              <a:rPr lang="ru-RU" sz="1200" b="0" dirty="0"/>
              <a:t>                      172.17.2.22                                    0 65000 65100</a:t>
            </a:r>
          </a:p>
          <a:p>
            <a:r>
              <a:rPr lang="ru-RU" sz="1200" b="0" dirty="0"/>
              <a:t>*&gt;e                </a:t>
            </a:r>
            <a:r>
              <a:rPr lang="ru-RU" sz="1200" b="0" dirty="0" smtClean="0"/>
              <a:t>172.17.2.21                                    </a:t>
            </a:r>
            <a:r>
              <a:rPr lang="ru-RU" sz="1200" b="0" dirty="0"/>
              <a:t>0 65000 65100</a:t>
            </a:r>
          </a:p>
          <a:p>
            <a:endParaRPr lang="en-US" sz="1200" b="0" dirty="0" smtClean="0"/>
          </a:p>
          <a:p>
            <a:endParaRPr lang="en-US" sz="900" b="0" dirty="0"/>
          </a:p>
          <a:p>
            <a:r>
              <a:rPr lang="en-US" sz="900" b="0" dirty="0" smtClean="0"/>
              <a:t>PC1 (POD1) </a:t>
            </a:r>
            <a:r>
              <a:rPr lang="en-US" sz="900" b="0" dirty="0"/>
              <a:t>-10.10.10.1  </a:t>
            </a:r>
            <a:r>
              <a:rPr lang="en-US" sz="900" b="0" dirty="0" smtClean="0"/>
              <a:t>   0050.7966.680a</a:t>
            </a:r>
          </a:p>
          <a:p>
            <a:r>
              <a:rPr lang="en-US" sz="900" b="0" dirty="0"/>
              <a:t>PC2 </a:t>
            </a:r>
            <a:r>
              <a:rPr lang="en-US" sz="900" b="0" dirty="0" smtClean="0"/>
              <a:t>(POD1) -10.10.20.1     0050.7966.680c</a:t>
            </a:r>
          </a:p>
          <a:p>
            <a:r>
              <a:rPr lang="en-US" sz="900" b="0" dirty="0"/>
              <a:t>PC3 </a:t>
            </a:r>
            <a:r>
              <a:rPr lang="en-US" sz="900" b="0" dirty="0" smtClean="0"/>
              <a:t>(POD2) -10.10.20.10   </a:t>
            </a:r>
            <a:r>
              <a:rPr lang="en-US" sz="900" b="0" dirty="0"/>
              <a:t>0050.7966.6808</a:t>
            </a:r>
          </a:p>
          <a:p>
            <a:r>
              <a:rPr lang="en-US" sz="900" b="0" dirty="0"/>
              <a:t>PC4 </a:t>
            </a:r>
            <a:r>
              <a:rPr lang="en-US" sz="900" b="0" dirty="0" smtClean="0"/>
              <a:t>(POD2) -10.10.10.10   0050.7966.6809</a:t>
            </a:r>
          </a:p>
          <a:p>
            <a:r>
              <a:rPr lang="en-US" sz="900" b="0" dirty="0"/>
              <a:t>PC5 </a:t>
            </a:r>
            <a:r>
              <a:rPr lang="en-US" sz="900" b="0" dirty="0" smtClean="0"/>
              <a:t>(POD2) -10.10.50.10   0050.7966.680d</a:t>
            </a:r>
            <a:endParaRPr lang="ru-RU" sz="900" b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095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smtClean="0"/>
              <a:t>Маршруты</a:t>
            </a:r>
            <a:r>
              <a:rPr lang="en-US" sz="1600" dirty="0" smtClean="0"/>
              <a:t> POD2: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sp>
        <p:nvSpPr>
          <p:cNvPr id="4" name="Google Shape;195;p40"/>
          <p:cNvSpPr txBox="1">
            <a:spLocks/>
          </p:cNvSpPr>
          <p:nvPr/>
        </p:nvSpPr>
        <p:spPr>
          <a:xfrm>
            <a:off x="871253" y="722870"/>
            <a:ext cx="7413952" cy="4213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Roboto"/>
              <a:buNone/>
              <a:defRPr sz="46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/>
              <a:buNone/>
              <a:defRPr sz="5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/>
              <a:buNone/>
              <a:defRPr sz="5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/>
              <a:buNone/>
              <a:defRPr sz="5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/>
              <a:buNone/>
              <a:defRPr sz="5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/>
              <a:buNone/>
              <a:defRPr sz="5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/>
              <a:buNone/>
              <a:defRPr sz="5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/>
              <a:buNone/>
              <a:defRPr sz="5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/>
              <a:buNone/>
              <a:defRPr sz="5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200" b="0" dirty="0" smtClean="0"/>
              <a:t>Leaf2-1: </a:t>
            </a:r>
            <a:r>
              <a:rPr lang="ru-RU" sz="1200" b="0" dirty="0" smtClean="0"/>
              <a:t>Маршруты </a:t>
            </a:r>
            <a:r>
              <a:rPr lang="ru-RU" sz="1200" b="0" dirty="0"/>
              <a:t>2-ого типа для </a:t>
            </a:r>
            <a:r>
              <a:rPr lang="en-US" sz="1200" b="0" dirty="0" err="1" smtClean="0">
                <a:solidFill>
                  <a:srgbClr val="FF0000"/>
                </a:solidFill>
              </a:rPr>
              <a:t>vni</a:t>
            </a:r>
            <a:r>
              <a:rPr lang="en-US" sz="1200" b="0" dirty="0" smtClean="0">
                <a:solidFill>
                  <a:srgbClr val="FF0000"/>
                </a:solidFill>
              </a:rPr>
              <a:t> </a:t>
            </a:r>
            <a:r>
              <a:rPr lang="en-US" sz="1200" b="0" dirty="0">
                <a:solidFill>
                  <a:srgbClr val="FF0000"/>
                </a:solidFill>
              </a:rPr>
              <a:t>10010</a:t>
            </a:r>
          </a:p>
          <a:p>
            <a:r>
              <a:rPr lang="en-US" sz="1200" b="0" dirty="0" smtClean="0"/>
              <a:t>Network            </a:t>
            </a:r>
            <a:r>
              <a:rPr lang="en-US" sz="1200" b="0" dirty="0"/>
              <a:t>Next Hop            Metric     </a:t>
            </a:r>
            <a:r>
              <a:rPr lang="en-US" sz="1200" b="0" dirty="0" err="1"/>
              <a:t>LocPrf</a:t>
            </a:r>
            <a:r>
              <a:rPr lang="en-US" sz="1200" b="0" dirty="0"/>
              <a:t>     Weight Path</a:t>
            </a:r>
          </a:p>
          <a:p>
            <a:r>
              <a:rPr lang="en-US" sz="1200" b="0" dirty="0"/>
              <a:t>Route Distinguisher: 172.16.2.21:32777    (L2VNI 10010)</a:t>
            </a:r>
          </a:p>
          <a:p>
            <a:r>
              <a:rPr lang="en-US" sz="1200" b="0" dirty="0"/>
              <a:t>*&gt;l[2]:[0]:[0]:[48]:[</a:t>
            </a:r>
            <a:r>
              <a:rPr lang="en-US" sz="1200" b="0" dirty="0">
                <a:solidFill>
                  <a:srgbClr val="FF0000"/>
                </a:solidFill>
              </a:rPr>
              <a:t>0050.7966.6809]:[32]:[10.10.10.10</a:t>
            </a:r>
            <a:r>
              <a:rPr lang="en-US" sz="1200" b="0" dirty="0"/>
              <a:t>]/272             </a:t>
            </a:r>
            <a:r>
              <a:rPr lang="en-US" sz="1200" b="0" dirty="0" smtClean="0"/>
              <a:t>172.17.2.21        100      </a:t>
            </a:r>
            <a:r>
              <a:rPr lang="en-US" sz="1200" b="0" dirty="0"/>
              <a:t>32768 </a:t>
            </a:r>
            <a:r>
              <a:rPr lang="en-US" sz="1200" b="0" dirty="0" err="1"/>
              <a:t>i</a:t>
            </a:r>
            <a:endParaRPr lang="en-US" sz="1200" b="0" dirty="0"/>
          </a:p>
          <a:p>
            <a:r>
              <a:rPr lang="en-US" sz="1200" b="0" dirty="0"/>
              <a:t>*&gt;</a:t>
            </a:r>
            <a:r>
              <a:rPr lang="en-US" sz="1200" b="0" dirty="0" err="1"/>
              <a:t>i</a:t>
            </a:r>
            <a:r>
              <a:rPr lang="en-US" sz="1200" b="0" dirty="0"/>
              <a:t>[2]:[0]:[0]:[48]:[</a:t>
            </a:r>
            <a:r>
              <a:rPr lang="en-US" sz="1200" b="0" dirty="0">
                <a:solidFill>
                  <a:srgbClr val="FF0000"/>
                </a:solidFill>
              </a:rPr>
              <a:t>0050.7966.680a]:[32]:[10.10.10.1</a:t>
            </a:r>
            <a:r>
              <a:rPr lang="en-US" sz="1200" b="0" dirty="0"/>
              <a:t>]/272                </a:t>
            </a:r>
            <a:r>
              <a:rPr lang="en-US" sz="1200" b="0" dirty="0" smtClean="0"/>
              <a:t>172.17.2.11       100       0 </a:t>
            </a:r>
            <a:r>
              <a:rPr lang="en-US" sz="1200" b="0" dirty="0">
                <a:solidFill>
                  <a:srgbClr val="FF0000"/>
                </a:solidFill>
              </a:rPr>
              <a:t>65000 65002 </a:t>
            </a:r>
            <a:r>
              <a:rPr lang="en-US" sz="1200" b="0" dirty="0" err="1"/>
              <a:t>i</a:t>
            </a:r>
            <a:endParaRPr lang="ru-RU" sz="1200" b="0" dirty="0" smtClean="0"/>
          </a:p>
          <a:p>
            <a:endParaRPr lang="en-US" sz="1200" b="0" dirty="0" smtClean="0"/>
          </a:p>
          <a:p>
            <a:r>
              <a:rPr lang="en-US" sz="1200" b="0" dirty="0" smtClean="0"/>
              <a:t>Leaf2-1</a:t>
            </a:r>
            <a:r>
              <a:rPr lang="en-US" sz="1200" b="0" dirty="0"/>
              <a:t>: </a:t>
            </a:r>
            <a:r>
              <a:rPr lang="ru-RU" sz="1200" b="0" dirty="0"/>
              <a:t>Маршруты 2-ого типа для </a:t>
            </a:r>
            <a:r>
              <a:rPr lang="en-US" sz="1200" b="0" dirty="0" err="1">
                <a:solidFill>
                  <a:srgbClr val="FF0000"/>
                </a:solidFill>
              </a:rPr>
              <a:t>vni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sz="1200" b="0" dirty="0" smtClean="0">
                <a:solidFill>
                  <a:srgbClr val="FF0000"/>
                </a:solidFill>
              </a:rPr>
              <a:t>10020</a:t>
            </a:r>
            <a:endParaRPr lang="en-US" sz="1200" b="0" dirty="0" smtClean="0"/>
          </a:p>
          <a:p>
            <a:r>
              <a:rPr lang="en-US" sz="1200" b="0" dirty="0"/>
              <a:t> Network            Next Hop            Metric     </a:t>
            </a:r>
            <a:r>
              <a:rPr lang="en-US" sz="1200" b="0" dirty="0" err="1"/>
              <a:t>LocPrf</a:t>
            </a:r>
            <a:r>
              <a:rPr lang="en-US" sz="1200" b="0" dirty="0"/>
              <a:t>     Weight Path</a:t>
            </a:r>
          </a:p>
          <a:p>
            <a:r>
              <a:rPr lang="en-US" sz="1200" b="0" dirty="0"/>
              <a:t>Route Distinguisher: 172.16.2.21:32787    (L2VNI 10020)</a:t>
            </a:r>
          </a:p>
          <a:p>
            <a:r>
              <a:rPr lang="en-US" sz="1200" b="0" dirty="0"/>
              <a:t>*&gt;l[2]:[0]:[0]:[48]:[</a:t>
            </a:r>
            <a:r>
              <a:rPr lang="en-US" sz="1200" b="0" dirty="0">
                <a:solidFill>
                  <a:srgbClr val="FF0000"/>
                </a:solidFill>
              </a:rPr>
              <a:t>0050.7966.6808</a:t>
            </a:r>
            <a:r>
              <a:rPr lang="en-US" sz="1200" b="0" dirty="0">
                <a:solidFill>
                  <a:schemeClr val="tx1"/>
                </a:solidFill>
              </a:rPr>
              <a:t>]:[</a:t>
            </a:r>
            <a:r>
              <a:rPr lang="en-US" sz="1200" b="0" dirty="0"/>
              <a:t>0]:[0.0.0.0]/</a:t>
            </a:r>
            <a:r>
              <a:rPr lang="en-US" sz="1200" b="0" dirty="0" smtClean="0"/>
              <a:t>216 	                 </a:t>
            </a:r>
            <a:r>
              <a:rPr lang="en-US" sz="1200" b="0" dirty="0"/>
              <a:t>172.17.2.21        </a:t>
            </a:r>
            <a:r>
              <a:rPr lang="en-US" sz="1200" b="0" dirty="0" smtClean="0"/>
              <a:t> 100      </a:t>
            </a:r>
            <a:r>
              <a:rPr lang="en-US" sz="1200" b="0" dirty="0"/>
              <a:t>32768 </a:t>
            </a:r>
            <a:r>
              <a:rPr lang="en-US" sz="1200" b="0" dirty="0" err="1"/>
              <a:t>i</a:t>
            </a:r>
            <a:endParaRPr lang="en-US" sz="1200" b="0" dirty="0"/>
          </a:p>
          <a:p>
            <a:r>
              <a:rPr lang="nn-NO" sz="1200" b="0" dirty="0"/>
              <a:t>*&gt;i[2]:[0]:[0]:[48]:[</a:t>
            </a:r>
            <a:r>
              <a:rPr lang="nn-NO" sz="1200" b="0" dirty="0">
                <a:solidFill>
                  <a:srgbClr val="FF0000"/>
                </a:solidFill>
              </a:rPr>
              <a:t>0050.7966.680c</a:t>
            </a:r>
            <a:r>
              <a:rPr lang="nn-NO" sz="1200" b="0" dirty="0"/>
              <a:t>]:[0]:[0.0.0.0]/216</a:t>
            </a:r>
          </a:p>
          <a:p>
            <a:r>
              <a:rPr lang="nn-NO" sz="1200" b="0" dirty="0"/>
              <a:t>                      172.17.2.11                       </a:t>
            </a:r>
            <a:r>
              <a:rPr lang="nn-NO" sz="1200" b="0" dirty="0" smtClean="0"/>
              <a:t> 100          </a:t>
            </a:r>
            <a:r>
              <a:rPr lang="nn-NO" sz="1200" b="0" dirty="0"/>
              <a:t>0 </a:t>
            </a:r>
            <a:r>
              <a:rPr lang="nn-NO" sz="1200" b="0" dirty="0">
                <a:solidFill>
                  <a:srgbClr val="FF0000"/>
                </a:solidFill>
              </a:rPr>
              <a:t>65000 65001 </a:t>
            </a:r>
            <a:r>
              <a:rPr lang="nn-NO" sz="1200" b="0" dirty="0"/>
              <a:t>i</a:t>
            </a:r>
          </a:p>
          <a:p>
            <a:r>
              <a:rPr lang="nn-NO" sz="1200" b="0" dirty="0"/>
              <a:t>* i                   172.17.2.11                       100          0 </a:t>
            </a:r>
            <a:r>
              <a:rPr lang="nn-NO" sz="1200" b="0" dirty="0">
                <a:solidFill>
                  <a:srgbClr val="FF0000"/>
                </a:solidFill>
              </a:rPr>
              <a:t>65000 65002 </a:t>
            </a:r>
            <a:r>
              <a:rPr lang="nn-NO" sz="1200" b="0" dirty="0"/>
              <a:t>i</a:t>
            </a:r>
            <a:endParaRPr lang="en-US" sz="1200" b="0" dirty="0" smtClean="0"/>
          </a:p>
          <a:p>
            <a:endParaRPr lang="en-US" sz="1200" b="0" dirty="0" smtClean="0"/>
          </a:p>
          <a:p>
            <a:endParaRPr lang="en-US" sz="1200" b="0" dirty="0"/>
          </a:p>
          <a:p>
            <a:r>
              <a:rPr lang="en-US" sz="1200" b="0" dirty="0" smtClean="0"/>
              <a:t>Leaf2-1</a:t>
            </a:r>
            <a:r>
              <a:rPr lang="en-US" sz="1200" b="0" dirty="0"/>
              <a:t>: </a:t>
            </a:r>
            <a:r>
              <a:rPr lang="ru-RU" sz="1200" b="0" dirty="0" smtClean="0"/>
              <a:t>маршрут </a:t>
            </a:r>
            <a:r>
              <a:rPr lang="en-US" sz="1200" b="0" dirty="0" smtClean="0"/>
              <a:t>2</a:t>
            </a:r>
            <a:r>
              <a:rPr lang="ru-RU" sz="1200" b="0" dirty="0" smtClean="0"/>
              <a:t>-ого </a:t>
            </a:r>
            <a:r>
              <a:rPr lang="ru-RU" sz="1200" b="0" dirty="0"/>
              <a:t>типа для </a:t>
            </a:r>
            <a:r>
              <a:rPr lang="en-US" sz="1200" b="0" dirty="0" err="1" smtClean="0">
                <a:solidFill>
                  <a:srgbClr val="FF0000"/>
                </a:solidFill>
              </a:rPr>
              <a:t>vni</a:t>
            </a:r>
            <a:r>
              <a:rPr lang="en-US" sz="1200" b="0" dirty="0" smtClean="0">
                <a:solidFill>
                  <a:srgbClr val="FF0000"/>
                </a:solidFill>
              </a:rPr>
              <a:t> 10050</a:t>
            </a:r>
            <a:r>
              <a:rPr lang="en-US" sz="1200" b="0" dirty="0" smtClean="0"/>
              <a:t>:</a:t>
            </a:r>
            <a:endParaRPr lang="ru-RU" sz="1200" b="0" dirty="0"/>
          </a:p>
          <a:p>
            <a:r>
              <a:rPr lang="nn-NO" sz="1200" b="0" dirty="0"/>
              <a:t>*&gt;i[2]:[0]:[0]:[48]:[</a:t>
            </a:r>
            <a:r>
              <a:rPr lang="nn-NO" sz="1200" b="0" dirty="0">
                <a:solidFill>
                  <a:srgbClr val="FF0000"/>
                </a:solidFill>
              </a:rPr>
              <a:t>0050.7966.680d]:[32]:[10.10.50.10</a:t>
            </a:r>
            <a:r>
              <a:rPr lang="nn-NO" sz="1200" b="0" dirty="0"/>
              <a:t>]/</a:t>
            </a:r>
            <a:r>
              <a:rPr lang="nn-NO" sz="1200" b="0" dirty="0" smtClean="0"/>
              <a:t>272               172.17.2.22         100          </a:t>
            </a:r>
            <a:r>
              <a:rPr lang="nn-NO" sz="1200" b="0" dirty="0"/>
              <a:t>0 i</a:t>
            </a:r>
            <a:endParaRPr lang="en-US" sz="1200" b="0" dirty="0" smtClean="0"/>
          </a:p>
          <a:p>
            <a:endParaRPr lang="en-US" sz="900" b="0" dirty="0"/>
          </a:p>
          <a:p>
            <a:r>
              <a:rPr lang="en-US" sz="900" b="0" dirty="0" smtClean="0"/>
              <a:t>PC1 (POD1) </a:t>
            </a:r>
            <a:r>
              <a:rPr lang="en-US" sz="900" b="0" dirty="0"/>
              <a:t>-10.10.10.1  </a:t>
            </a:r>
            <a:r>
              <a:rPr lang="en-US" sz="900" b="0" dirty="0" smtClean="0"/>
              <a:t>   0050.7966.680a</a:t>
            </a:r>
          </a:p>
          <a:p>
            <a:r>
              <a:rPr lang="en-US" sz="900" b="0" dirty="0"/>
              <a:t>PC2 </a:t>
            </a:r>
            <a:r>
              <a:rPr lang="en-US" sz="900" b="0" dirty="0" smtClean="0"/>
              <a:t>(POD1) -10.10.20.1     0050.7966.680c</a:t>
            </a:r>
          </a:p>
          <a:p>
            <a:r>
              <a:rPr lang="en-US" sz="900" b="0" dirty="0"/>
              <a:t>PC3 </a:t>
            </a:r>
            <a:r>
              <a:rPr lang="en-US" sz="900" b="0" dirty="0" smtClean="0"/>
              <a:t>(POD2) -10.10.20.10   </a:t>
            </a:r>
            <a:r>
              <a:rPr lang="en-US" sz="900" b="0" dirty="0"/>
              <a:t>0050.7966.6808</a:t>
            </a:r>
          </a:p>
          <a:p>
            <a:r>
              <a:rPr lang="en-US" sz="900" b="0" dirty="0"/>
              <a:t>PC4 </a:t>
            </a:r>
            <a:r>
              <a:rPr lang="en-US" sz="900" b="0" dirty="0" smtClean="0"/>
              <a:t>(POD2) -10.10.10.10   0050.7966.6809</a:t>
            </a:r>
          </a:p>
          <a:p>
            <a:r>
              <a:rPr lang="en-US" sz="900" b="0" dirty="0"/>
              <a:t>PC5 </a:t>
            </a:r>
            <a:r>
              <a:rPr lang="en-US" sz="900" b="0" dirty="0" smtClean="0"/>
              <a:t>(POD2) -10.10.50.10   0050.7966.680d</a:t>
            </a:r>
            <a:endParaRPr lang="ru-RU" sz="900" b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>
            <a:spLocks noGrp="1"/>
          </p:cNvSpPr>
          <p:nvPr>
            <p:ph type="title"/>
          </p:nvPr>
        </p:nvSpPr>
        <p:spPr>
          <a:xfrm>
            <a:off x="623400" y="345599"/>
            <a:ext cx="8520600" cy="6058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rgbClr val="050505"/>
                </a:solidFill>
              </a:rPr>
              <a:t>Все хосты на обоих подах доступны:</a:t>
            </a:r>
            <a:endParaRPr dirty="0">
              <a:solidFill>
                <a:srgbClr val="050505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9239" y="1085298"/>
            <a:ext cx="7895968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 smtClean="0"/>
              <a:t>VPC1&gt; </a:t>
            </a:r>
            <a:r>
              <a:rPr lang="ru-RU" sz="1100" dirty="0" err="1"/>
              <a:t>ping</a:t>
            </a:r>
            <a:r>
              <a:rPr lang="ru-RU" sz="1100" dirty="0"/>
              <a:t> 10.10.10.10</a:t>
            </a:r>
          </a:p>
          <a:p>
            <a:r>
              <a:rPr lang="ru-RU" sz="1100" dirty="0" smtClean="0"/>
              <a:t>84 </a:t>
            </a:r>
            <a:r>
              <a:rPr lang="ru-RU" sz="1100" dirty="0" err="1"/>
              <a:t>bytes</a:t>
            </a:r>
            <a:r>
              <a:rPr lang="ru-RU" sz="1100" dirty="0"/>
              <a:t> </a:t>
            </a:r>
            <a:r>
              <a:rPr lang="ru-RU" sz="1100" dirty="0" err="1"/>
              <a:t>from</a:t>
            </a:r>
            <a:r>
              <a:rPr lang="ru-RU" sz="1100" dirty="0"/>
              <a:t> 10.10.10.10 </a:t>
            </a:r>
            <a:r>
              <a:rPr lang="ru-RU" sz="1100" dirty="0" err="1"/>
              <a:t>icmp_seq</a:t>
            </a:r>
            <a:r>
              <a:rPr lang="ru-RU" sz="1100" dirty="0"/>
              <a:t>=1 </a:t>
            </a:r>
            <a:r>
              <a:rPr lang="ru-RU" sz="1100" dirty="0" err="1"/>
              <a:t>ttl</a:t>
            </a:r>
            <a:r>
              <a:rPr lang="ru-RU" sz="1100" dirty="0"/>
              <a:t>=64 </a:t>
            </a:r>
            <a:r>
              <a:rPr lang="ru-RU" sz="1100" dirty="0" err="1"/>
              <a:t>time</a:t>
            </a:r>
            <a:r>
              <a:rPr lang="ru-RU" sz="1100" dirty="0"/>
              <a:t>=15.897 </a:t>
            </a:r>
            <a:r>
              <a:rPr lang="ru-RU" sz="1100" dirty="0" err="1"/>
              <a:t>ms</a:t>
            </a:r>
            <a:endParaRPr lang="ru-RU" sz="1100" dirty="0"/>
          </a:p>
          <a:p>
            <a:r>
              <a:rPr lang="ru-RU" sz="1100" dirty="0"/>
              <a:t>84 </a:t>
            </a:r>
            <a:r>
              <a:rPr lang="ru-RU" sz="1100" dirty="0" err="1"/>
              <a:t>bytes</a:t>
            </a:r>
            <a:r>
              <a:rPr lang="ru-RU" sz="1100" dirty="0"/>
              <a:t> </a:t>
            </a:r>
            <a:r>
              <a:rPr lang="ru-RU" sz="1100" dirty="0" err="1"/>
              <a:t>from</a:t>
            </a:r>
            <a:r>
              <a:rPr lang="ru-RU" sz="1100" dirty="0"/>
              <a:t> 10.10.10.10 </a:t>
            </a:r>
            <a:r>
              <a:rPr lang="ru-RU" sz="1100" dirty="0" err="1"/>
              <a:t>icmp_seq</a:t>
            </a:r>
            <a:r>
              <a:rPr lang="ru-RU" sz="1100" dirty="0"/>
              <a:t>=2 </a:t>
            </a:r>
            <a:r>
              <a:rPr lang="ru-RU" sz="1100" dirty="0" err="1"/>
              <a:t>ttl</a:t>
            </a:r>
            <a:r>
              <a:rPr lang="ru-RU" sz="1100" dirty="0"/>
              <a:t>=64 </a:t>
            </a:r>
            <a:r>
              <a:rPr lang="ru-RU" sz="1100" dirty="0" err="1"/>
              <a:t>time</a:t>
            </a:r>
            <a:r>
              <a:rPr lang="ru-RU" sz="1100" dirty="0"/>
              <a:t>=15.647 </a:t>
            </a:r>
            <a:r>
              <a:rPr lang="ru-RU" sz="1100" dirty="0" err="1"/>
              <a:t>ms</a:t>
            </a:r>
            <a:endParaRPr lang="ru-RU" sz="1100" dirty="0"/>
          </a:p>
          <a:p>
            <a:r>
              <a:rPr lang="ru-RU" sz="1100" dirty="0"/>
              <a:t>84 </a:t>
            </a:r>
            <a:r>
              <a:rPr lang="ru-RU" sz="1100" dirty="0" err="1"/>
              <a:t>bytes</a:t>
            </a:r>
            <a:r>
              <a:rPr lang="ru-RU" sz="1100" dirty="0"/>
              <a:t> </a:t>
            </a:r>
            <a:r>
              <a:rPr lang="ru-RU" sz="1100" dirty="0" err="1"/>
              <a:t>from</a:t>
            </a:r>
            <a:r>
              <a:rPr lang="ru-RU" sz="1100" dirty="0"/>
              <a:t> 10.10.10.10 </a:t>
            </a:r>
            <a:r>
              <a:rPr lang="ru-RU" sz="1100" dirty="0" err="1"/>
              <a:t>icmp_seq</a:t>
            </a:r>
            <a:r>
              <a:rPr lang="ru-RU" sz="1100" dirty="0"/>
              <a:t>=3 </a:t>
            </a:r>
            <a:r>
              <a:rPr lang="ru-RU" sz="1100" dirty="0" err="1"/>
              <a:t>ttl</a:t>
            </a:r>
            <a:r>
              <a:rPr lang="ru-RU" sz="1100" dirty="0"/>
              <a:t>=64 </a:t>
            </a:r>
            <a:r>
              <a:rPr lang="ru-RU" sz="1100" dirty="0" err="1"/>
              <a:t>time</a:t>
            </a:r>
            <a:r>
              <a:rPr lang="ru-RU" sz="1100" dirty="0"/>
              <a:t>=13.900 </a:t>
            </a:r>
            <a:r>
              <a:rPr lang="ru-RU" sz="1100" dirty="0" err="1"/>
              <a:t>ms</a:t>
            </a:r>
            <a:endParaRPr lang="ru-RU" sz="1100" dirty="0"/>
          </a:p>
          <a:p>
            <a:endParaRPr lang="ru-RU" sz="1100" dirty="0" smtClean="0"/>
          </a:p>
          <a:p>
            <a:endParaRPr lang="ru-RU" sz="1100" dirty="0" smtClean="0"/>
          </a:p>
          <a:p>
            <a:r>
              <a:rPr lang="ru-RU" sz="1100" dirty="0" smtClean="0"/>
              <a:t>VPC1&gt; </a:t>
            </a:r>
            <a:r>
              <a:rPr lang="ru-RU" sz="1100" dirty="0" err="1"/>
              <a:t>ping</a:t>
            </a:r>
            <a:r>
              <a:rPr lang="ru-RU" sz="1100" dirty="0"/>
              <a:t> </a:t>
            </a:r>
            <a:r>
              <a:rPr lang="ru-RU" sz="1100" dirty="0" smtClean="0"/>
              <a:t>10.10.20.1</a:t>
            </a:r>
            <a:endParaRPr lang="ru-RU" sz="1100" dirty="0"/>
          </a:p>
          <a:p>
            <a:r>
              <a:rPr lang="ru-RU" sz="1100" dirty="0"/>
              <a:t>84 </a:t>
            </a:r>
            <a:r>
              <a:rPr lang="ru-RU" sz="1100" dirty="0" err="1"/>
              <a:t>bytes</a:t>
            </a:r>
            <a:r>
              <a:rPr lang="ru-RU" sz="1100" dirty="0"/>
              <a:t> </a:t>
            </a:r>
            <a:r>
              <a:rPr lang="ru-RU" sz="1100" dirty="0" err="1"/>
              <a:t>from</a:t>
            </a:r>
            <a:r>
              <a:rPr lang="ru-RU" sz="1100" dirty="0"/>
              <a:t> 10.10.20.1 </a:t>
            </a:r>
            <a:r>
              <a:rPr lang="ru-RU" sz="1100" dirty="0" err="1"/>
              <a:t>icmp_seq</a:t>
            </a:r>
            <a:r>
              <a:rPr lang="ru-RU" sz="1100" dirty="0"/>
              <a:t>=1 </a:t>
            </a:r>
            <a:r>
              <a:rPr lang="ru-RU" sz="1100" dirty="0" err="1"/>
              <a:t>ttl</a:t>
            </a:r>
            <a:r>
              <a:rPr lang="ru-RU" sz="1100" dirty="0"/>
              <a:t>=63 </a:t>
            </a:r>
            <a:r>
              <a:rPr lang="ru-RU" sz="1100" dirty="0" err="1"/>
              <a:t>time</a:t>
            </a:r>
            <a:r>
              <a:rPr lang="ru-RU" sz="1100" dirty="0"/>
              <a:t>=18.863 </a:t>
            </a:r>
            <a:r>
              <a:rPr lang="ru-RU" sz="1100" dirty="0" err="1"/>
              <a:t>ms</a:t>
            </a:r>
            <a:endParaRPr lang="ru-RU" sz="1100" dirty="0"/>
          </a:p>
          <a:p>
            <a:r>
              <a:rPr lang="ru-RU" sz="1100" dirty="0"/>
              <a:t>84 </a:t>
            </a:r>
            <a:r>
              <a:rPr lang="ru-RU" sz="1100" dirty="0" err="1"/>
              <a:t>bytes</a:t>
            </a:r>
            <a:r>
              <a:rPr lang="ru-RU" sz="1100" dirty="0"/>
              <a:t> </a:t>
            </a:r>
            <a:r>
              <a:rPr lang="ru-RU" sz="1100" dirty="0" err="1"/>
              <a:t>from</a:t>
            </a:r>
            <a:r>
              <a:rPr lang="ru-RU" sz="1100" dirty="0"/>
              <a:t> 10.10.20.1 </a:t>
            </a:r>
            <a:r>
              <a:rPr lang="ru-RU" sz="1100" dirty="0" err="1"/>
              <a:t>icmp_seq</a:t>
            </a:r>
            <a:r>
              <a:rPr lang="ru-RU" sz="1100" dirty="0"/>
              <a:t>=2 </a:t>
            </a:r>
            <a:r>
              <a:rPr lang="ru-RU" sz="1100" dirty="0" err="1"/>
              <a:t>ttl</a:t>
            </a:r>
            <a:r>
              <a:rPr lang="ru-RU" sz="1100" dirty="0"/>
              <a:t>=63 </a:t>
            </a:r>
            <a:r>
              <a:rPr lang="ru-RU" sz="1100" dirty="0" err="1"/>
              <a:t>time</a:t>
            </a:r>
            <a:r>
              <a:rPr lang="ru-RU" sz="1100" dirty="0"/>
              <a:t>=10.733 </a:t>
            </a:r>
            <a:r>
              <a:rPr lang="ru-RU" sz="1100" dirty="0" err="1"/>
              <a:t>ms</a:t>
            </a:r>
            <a:endParaRPr lang="ru-RU" sz="1100" dirty="0"/>
          </a:p>
          <a:p>
            <a:r>
              <a:rPr lang="ru-RU" sz="1100" dirty="0"/>
              <a:t>84 </a:t>
            </a:r>
            <a:r>
              <a:rPr lang="ru-RU" sz="1100" dirty="0" err="1"/>
              <a:t>bytes</a:t>
            </a:r>
            <a:r>
              <a:rPr lang="ru-RU" sz="1100" dirty="0"/>
              <a:t> </a:t>
            </a:r>
            <a:r>
              <a:rPr lang="ru-RU" sz="1100" dirty="0" err="1"/>
              <a:t>from</a:t>
            </a:r>
            <a:r>
              <a:rPr lang="ru-RU" sz="1100" dirty="0"/>
              <a:t> 10.10.20.1 </a:t>
            </a:r>
            <a:r>
              <a:rPr lang="ru-RU" sz="1100" dirty="0" err="1"/>
              <a:t>icmp_seq</a:t>
            </a:r>
            <a:r>
              <a:rPr lang="ru-RU" sz="1100" dirty="0"/>
              <a:t>=3 </a:t>
            </a:r>
            <a:r>
              <a:rPr lang="ru-RU" sz="1100" dirty="0" err="1"/>
              <a:t>ttl</a:t>
            </a:r>
            <a:r>
              <a:rPr lang="ru-RU" sz="1100" dirty="0"/>
              <a:t>=63 </a:t>
            </a:r>
            <a:r>
              <a:rPr lang="ru-RU" sz="1100" dirty="0" err="1"/>
              <a:t>time</a:t>
            </a:r>
            <a:r>
              <a:rPr lang="ru-RU" sz="1100" dirty="0"/>
              <a:t>=11.943 </a:t>
            </a:r>
            <a:r>
              <a:rPr lang="ru-RU" sz="1100" dirty="0" err="1"/>
              <a:t>ms</a:t>
            </a:r>
            <a:endParaRPr lang="ru-RU" sz="1100" dirty="0"/>
          </a:p>
          <a:p>
            <a:endParaRPr lang="ru-RU" sz="1100" dirty="0" smtClean="0"/>
          </a:p>
          <a:p>
            <a:endParaRPr lang="ru-RU" sz="1100" dirty="0"/>
          </a:p>
          <a:p>
            <a:r>
              <a:rPr lang="ru-RU" sz="1100" dirty="0" smtClean="0"/>
              <a:t>VPC1&gt; </a:t>
            </a:r>
            <a:r>
              <a:rPr lang="ru-RU" sz="1100" dirty="0" err="1"/>
              <a:t>ping</a:t>
            </a:r>
            <a:r>
              <a:rPr lang="ru-RU" sz="1100" dirty="0"/>
              <a:t> </a:t>
            </a:r>
            <a:r>
              <a:rPr lang="ru-RU" sz="1100" dirty="0" smtClean="0"/>
              <a:t>10.10.20.10</a:t>
            </a:r>
            <a:endParaRPr lang="ru-RU" sz="1100" dirty="0"/>
          </a:p>
          <a:p>
            <a:r>
              <a:rPr lang="ru-RU" sz="1100" dirty="0"/>
              <a:t>84 </a:t>
            </a:r>
            <a:r>
              <a:rPr lang="ru-RU" sz="1100" dirty="0" err="1"/>
              <a:t>bytes</a:t>
            </a:r>
            <a:r>
              <a:rPr lang="ru-RU" sz="1100" dirty="0"/>
              <a:t> </a:t>
            </a:r>
            <a:r>
              <a:rPr lang="ru-RU" sz="1100" dirty="0" err="1"/>
              <a:t>from</a:t>
            </a:r>
            <a:r>
              <a:rPr lang="ru-RU" sz="1100" dirty="0"/>
              <a:t> 10.10.20.10 </a:t>
            </a:r>
            <a:r>
              <a:rPr lang="ru-RU" sz="1100" dirty="0" err="1"/>
              <a:t>icmp_seq</a:t>
            </a:r>
            <a:r>
              <a:rPr lang="ru-RU" sz="1100" dirty="0"/>
              <a:t>=1 </a:t>
            </a:r>
            <a:r>
              <a:rPr lang="ru-RU" sz="1100" dirty="0" err="1"/>
              <a:t>ttl</a:t>
            </a:r>
            <a:r>
              <a:rPr lang="ru-RU" sz="1100" dirty="0"/>
              <a:t>=63 </a:t>
            </a:r>
            <a:r>
              <a:rPr lang="ru-RU" sz="1100" dirty="0" err="1"/>
              <a:t>time</a:t>
            </a:r>
            <a:r>
              <a:rPr lang="ru-RU" sz="1100" dirty="0"/>
              <a:t>=23.738 </a:t>
            </a:r>
            <a:r>
              <a:rPr lang="ru-RU" sz="1100" dirty="0" err="1"/>
              <a:t>ms</a:t>
            </a:r>
            <a:endParaRPr lang="ru-RU" sz="1100" dirty="0"/>
          </a:p>
          <a:p>
            <a:r>
              <a:rPr lang="ru-RU" sz="1100" dirty="0"/>
              <a:t>84 </a:t>
            </a:r>
            <a:r>
              <a:rPr lang="ru-RU" sz="1100" dirty="0" err="1"/>
              <a:t>bytes</a:t>
            </a:r>
            <a:r>
              <a:rPr lang="ru-RU" sz="1100" dirty="0"/>
              <a:t> </a:t>
            </a:r>
            <a:r>
              <a:rPr lang="ru-RU" sz="1100" dirty="0" err="1"/>
              <a:t>from</a:t>
            </a:r>
            <a:r>
              <a:rPr lang="ru-RU" sz="1100" dirty="0"/>
              <a:t> 10.10.20.10 </a:t>
            </a:r>
            <a:r>
              <a:rPr lang="ru-RU" sz="1100" dirty="0" err="1"/>
              <a:t>icmp_seq</a:t>
            </a:r>
            <a:r>
              <a:rPr lang="ru-RU" sz="1100" dirty="0"/>
              <a:t>=2 </a:t>
            </a:r>
            <a:r>
              <a:rPr lang="ru-RU" sz="1100" dirty="0" err="1"/>
              <a:t>ttl</a:t>
            </a:r>
            <a:r>
              <a:rPr lang="ru-RU" sz="1100" dirty="0"/>
              <a:t>=63 </a:t>
            </a:r>
            <a:r>
              <a:rPr lang="ru-RU" sz="1100" dirty="0" err="1"/>
              <a:t>time</a:t>
            </a:r>
            <a:r>
              <a:rPr lang="ru-RU" sz="1100" dirty="0"/>
              <a:t>=18.772 </a:t>
            </a:r>
            <a:r>
              <a:rPr lang="ru-RU" sz="1100" dirty="0" err="1"/>
              <a:t>ms</a:t>
            </a:r>
            <a:endParaRPr lang="ru-RU" sz="1100" dirty="0"/>
          </a:p>
          <a:p>
            <a:r>
              <a:rPr lang="ru-RU" sz="1100" dirty="0"/>
              <a:t>84 </a:t>
            </a:r>
            <a:r>
              <a:rPr lang="ru-RU" sz="1100" dirty="0" err="1"/>
              <a:t>bytes</a:t>
            </a:r>
            <a:r>
              <a:rPr lang="ru-RU" sz="1100" dirty="0"/>
              <a:t> </a:t>
            </a:r>
            <a:r>
              <a:rPr lang="ru-RU" sz="1100" dirty="0" err="1"/>
              <a:t>from</a:t>
            </a:r>
            <a:r>
              <a:rPr lang="ru-RU" sz="1100" dirty="0"/>
              <a:t> 10.10.20.10 </a:t>
            </a:r>
            <a:r>
              <a:rPr lang="ru-RU" sz="1100" dirty="0" err="1"/>
              <a:t>icmp_seq</a:t>
            </a:r>
            <a:r>
              <a:rPr lang="ru-RU" sz="1100" dirty="0"/>
              <a:t>=3 </a:t>
            </a:r>
            <a:r>
              <a:rPr lang="ru-RU" sz="1100" dirty="0" err="1"/>
              <a:t>ttl</a:t>
            </a:r>
            <a:r>
              <a:rPr lang="ru-RU" sz="1100" dirty="0"/>
              <a:t>=63 </a:t>
            </a:r>
            <a:r>
              <a:rPr lang="ru-RU" sz="1100" dirty="0" err="1"/>
              <a:t>time</a:t>
            </a:r>
            <a:r>
              <a:rPr lang="ru-RU" sz="1100" dirty="0"/>
              <a:t>=21.313 </a:t>
            </a:r>
            <a:r>
              <a:rPr lang="ru-RU" sz="1100" dirty="0" err="1"/>
              <a:t>ms</a:t>
            </a:r>
            <a:endParaRPr lang="ru-RU" sz="1100" dirty="0"/>
          </a:p>
          <a:p>
            <a:endParaRPr lang="ru-RU" sz="1100" dirty="0" smtClean="0"/>
          </a:p>
          <a:p>
            <a:endParaRPr lang="ru-RU" sz="1100" dirty="0"/>
          </a:p>
          <a:p>
            <a:r>
              <a:rPr lang="ru-RU" sz="1100" dirty="0" smtClean="0"/>
              <a:t>VPC1&gt; </a:t>
            </a:r>
            <a:r>
              <a:rPr lang="ru-RU" sz="1100" dirty="0" err="1"/>
              <a:t>ping</a:t>
            </a:r>
            <a:r>
              <a:rPr lang="ru-RU" sz="1100" dirty="0"/>
              <a:t> </a:t>
            </a:r>
            <a:r>
              <a:rPr lang="ru-RU" sz="1100" dirty="0" smtClean="0"/>
              <a:t>10.10.50.10</a:t>
            </a:r>
            <a:endParaRPr lang="ru-RU" sz="1100" dirty="0"/>
          </a:p>
          <a:p>
            <a:r>
              <a:rPr lang="ru-RU" sz="1100" dirty="0"/>
              <a:t>84 </a:t>
            </a:r>
            <a:r>
              <a:rPr lang="ru-RU" sz="1100" dirty="0" err="1"/>
              <a:t>bytes</a:t>
            </a:r>
            <a:r>
              <a:rPr lang="ru-RU" sz="1100" dirty="0"/>
              <a:t> </a:t>
            </a:r>
            <a:r>
              <a:rPr lang="ru-RU" sz="1100" dirty="0" err="1"/>
              <a:t>from</a:t>
            </a:r>
            <a:r>
              <a:rPr lang="ru-RU" sz="1100" dirty="0"/>
              <a:t> 10.10.50.10 </a:t>
            </a:r>
            <a:r>
              <a:rPr lang="ru-RU" sz="1100" dirty="0" err="1"/>
              <a:t>icmp_seq</a:t>
            </a:r>
            <a:r>
              <a:rPr lang="ru-RU" sz="1100" dirty="0"/>
              <a:t>=1 </a:t>
            </a:r>
            <a:r>
              <a:rPr lang="ru-RU" sz="1100" dirty="0" err="1"/>
              <a:t>ttl</a:t>
            </a:r>
            <a:r>
              <a:rPr lang="ru-RU" sz="1100" dirty="0"/>
              <a:t>=62 </a:t>
            </a:r>
            <a:r>
              <a:rPr lang="ru-RU" sz="1100" dirty="0" err="1"/>
              <a:t>time</a:t>
            </a:r>
            <a:r>
              <a:rPr lang="ru-RU" sz="1100" dirty="0"/>
              <a:t>=18.600 </a:t>
            </a:r>
            <a:r>
              <a:rPr lang="ru-RU" sz="1100" dirty="0" err="1"/>
              <a:t>ms</a:t>
            </a:r>
            <a:endParaRPr lang="ru-RU" sz="1100" dirty="0"/>
          </a:p>
          <a:p>
            <a:r>
              <a:rPr lang="ru-RU" sz="1100" dirty="0"/>
              <a:t>84 </a:t>
            </a:r>
            <a:r>
              <a:rPr lang="ru-RU" sz="1100" dirty="0" err="1"/>
              <a:t>bytes</a:t>
            </a:r>
            <a:r>
              <a:rPr lang="ru-RU" sz="1100" dirty="0"/>
              <a:t> </a:t>
            </a:r>
            <a:r>
              <a:rPr lang="ru-RU" sz="1100" dirty="0" err="1"/>
              <a:t>from</a:t>
            </a:r>
            <a:r>
              <a:rPr lang="ru-RU" sz="1100" dirty="0"/>
              <a:t> 10.10.50.10 </a:t>
            </a:r>
            <a:r>
              <a:rPr lang="ru-RU" sz="1100" dirty="0" err="1"/>
              <a:t>icmp_seq</a:t>
            </a:r>
            <a:r>
              <a:rPr lang="ru-RU" sz="1100" dirty="0"/>
              <a:t>=2 </a:t>
            </a:r>
            <a:r>
              <a:rPr lang="ru-RU" sz="1100" dirty="0" err="1"/>
              <a:t>ttl</a:t>
            </a:r>
            <a:r>
              <a:rPr lang="ru-RU" sz="1100" dirty="0"/>
              <a:t>=62 </a:t>
            </a:r>
            <a:r>
              <a:rPr lang="ru-RU" sz="1100" dirty="0" err="1"/>
              <a:t>time</a:t>
            </a:r>
            <a:r>
              <a:rPr lang="ru-RU" sz="1100" dirty="0"/>
              <a:t>=18.050 </a:t>
            </a:r>
            <a:r>
              <a:rPr lang="ru-RU" sz="1100" dirty="0" err="1"/>
              <a:t>ms</a:t>
            </a:r>
            <a:endParaRPr lang="ru-RU" sz="1100" dirty="0"/>
          </a:p>
          <a:p>
            <a:r>
              <a:rPr lang="ru-RU" sz="1100" dirty="0"/>
              <a:t>84 </a:t>
            </a:r>
            <a:r>
              <a:rPr lang="ru-RU" sz="1100" dirty="0" err="1"/>
              <a:t>bytes</a:t>
            </a:r>
            <a:r>
              <a:rPr lang="ru-RU" sz="1100" dirty="0"/>
              <a:t> </a:t>
            </a:r>
            <a:r>
              <a:rPr lang="ru-RU" sz="1100" dirty="0" err="1"/>
              <a:t>from</a:t>
            </a:r>
            <a:r>
              <a:rPr lang="ru-RU" sz="1100" dirty="0"/>
              <a:t> 10.10.50.10 </a:t>
            </a:r>
            <a:r>
              <a:rPr lang="ru-RU" sz="1100" dirty="0" err="1"/>
              <a:t>icmp_seq</a:t>
            </a:r>
            <a:r>
              <a:rPr lang="ru-RU" sz="1100" dirty="0"/>
              <a:t>=3 </a:t>
            </a:r>
            <a:r>
              <a:rPr lang="ru-RU" sz="1100" dirty="0" err="1"/>
              <a:t>ttl</a:t>
            </a:r>
            <a:r>
              <a:rPr lang="ru-RU" sz="1100" dirty="0"/>
              <a:t>=62 </a:t>
            </a:r>
            <a:r>
              <a:rPr lang="ru-RU" sz="1100" dirty="0" err="1"/>
              <a:t>time</a:t>
            </a:r>
            <a:r>
              <a:rPr lang="ru-RU" sz="1100" dirty="0"/>
              <a:t>=20.793 </a:t>
            </a:r>
            <a:r>
              <a:rPr lang="ru-RU" sz="1100" dirty="0" err="1" smtClean="0"/>
              <a:t>ms</a:t>
            </a:r>
            <a:endParaRPr lang="ru-RU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137725773"/>
              </p:ext>
            </p:extLst>
          </p:nvPr>
        </p:nvGraphicFramePr>
        <p:xfrm>
          <a:off x="952500" y="1248031"/>
          <a:ext cx="7239000" cy="3729761"/>
        </p:xfrm>
        <a:graphic>
          <a:graphicData uri="http://schemas.openxmlformats.org/drawingml/2006/table">
            <a:tbl>
              <a:tblPr>
                <a:noFill/>
                <a:tableStyleId>{FC0DE42D-3966-4A70-8926-DAFDE37ACCBA}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58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Multipod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- наиболее простой и понятный подход: имеем единый VXLAN домен, в котором туннели строятся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сквозняком,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между любыми VTEP-ми обоих 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POD-</a:t>
                      </a:r>
                      <a:r>
                        <a:rPr lang="ru-RU" sz="14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ов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58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Единый</a:t>
                      </a:r>
                      <a:r>
                        <a:rPr lang="ru-RU" sz="14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EVPN</a:t>
                      </a:r>
                      <a:r>
                        <a:rPr lang="en-US" sz="1400" b="1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домен, единый</a:t>
                      </a:r>
                      <a:r>
                        <a:rPr lang="ru-RU" sz="1400" b="1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Control Plane</a:t>
                      </a:r>
                      <a:r>
                        <a:rPr lang="ru-RU" sz="14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В этом и преимущество (простота развертывания) и не достаток (плохая масштабируемость, единый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домен </a:t>
                      </a:r>
                      <a:r>
                        <a:rPr lang="en-US" sz="14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BUM 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трафика)</a:t>
                      </a:r>
                      <a:endParaRPr sz="1400" b="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872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Более масштабируемые решения</a:t>
                      </a:r>
                      <a:r>
                        <a:rPr lang="ru-RU" sz="14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-VLAN </a:t>
                      </a:r>
                      <a:r>
                        <a:rPr lang="ru-RU" sz="1400" b="1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Hand-off</a:t>
                      </a:r>
                      <a:r>
                        <a:rPr lang="ru-RU" sz="14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 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парадигмой один ЦОД один VXLAN домен, но 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эти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решения 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накладывают больше требований 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к сети 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DC, физики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подключения, </a:t>
                      </a:r>
                      <a:r>
                        <a:rPr lang="ru-RU" sz="1400" b="0" i="0" u="none" strike="noStrike" cap="none" baseline="0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вендору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4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58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1117</Words>
  <Application>Microsoft Office PowerPoint</Application>
  <PresentationFormat>Экран (16:9)</PresentationFormat>
  <Paragraphs>150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Roboto Medium</vt:lpstr>
      <vt:lpstr>Roboto</vt:lpstr>
      <vt:lpstr>Arial</vt:lpstr>
      <vt:lpstr>Courier New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“Multi pod”   </vt:lpstr>
      <vt:lpstr>План защиты</vt:lpstr>
      <vt:lpstr>Multi POD</vt:lpstr>
      <vt:lpstr>Презентация PowerPoint</vt:lpstr>
      <vt:lpstr>Презентация PowerPoint</vt:lpstr>
      <vt:lpstr>Диагностика соседства по nve, а также vni которые подаются в туннель (POD1): </vt:lpstr>
      <vt:lpstr>Диагностика соседства по nve, а также vni которые подаются в туннель (POD2): </vt:lpstr>
      <vt:lpstr>Маршруты POD1: </vt:lpstr>
      <vt:lpstr>Маршруты POD2: </vt:lpstr>
      <vt:lpstr>Все хосты на обоих подах доступны:</vt:lpstr>
      <vt:lpstr>Выводы 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</dc:creator>
  <cp:lastModifiedBy>User</cp:lastModifiedBy>
  <cp:revision>64</cp:revision>
  <dcterms:modified xsi:type="dcterms:W3CDTF">2026-03-11T14:00:21Z</dcterms:modified>
</cp:coreProperties>
</file>